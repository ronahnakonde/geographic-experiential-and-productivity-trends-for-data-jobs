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6" Type="http://schemas.openxmlformats.org/officeDocument/2006/relationships/viewProps" Target="viewProps.xml" /><Relationship Id="rId15" Type="http://schemas.openxmlformats.org/officeDocument/2006/relationships/presProps" Target="presProps.xml" /><Relationship Id="rId1" Type="http://schemas.openxmlformats.org/officeDocument/2006/relationships/slideMaster" Target="slideMasters/slideMaster1.xml" /><Relationship Id="rId18" Type="http://schemas.openxmlformats.org/officeDocument/2006/relationships/tableStyles" Target="tableStyles.xml" /><Relationship Id="rId1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Geographic, Experiential, and Productivity Trends in Data Jobs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Nakonde Ronah Precious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About the datasets</a:t>
            </a:r>
          </a:p>
          <a:p>
            <a:pPr lvl="0" indent="0" marL="0">
              <a:buNone/>
            </a:pPr>
            <a:r>
              <a:rPr/>
              <a:t>This presentation examines trends in data jobs, particularly focusing on geographic and experiential factors and their impact on productivity. The study leverages data from Kaggle to address evolving job patterns in the data industry.</a:t>
            </a:r>
          </a:p>
          <a:p>
            <a:pPr lvl="0" indent="0" marL="0">
              <a:buNone/>
            </a:pPr>
            <a:r>
              <a:rPr/>
              <a:t>Two datasets were analyzed: one with data science job entries (9355 rows, 12 columns) and another with employee work patterns and productivity (1000 rows, 5 columns).</a:t>
            </a:r>
          </a:p>
          <a:p>
            <a:pPr lvl="0" indent="0" marL="0">
              <a:buNone/>
            </a:pPr>
            <a:r>
              <a:rPr/>
              <a:t>The first dataset provides insights into roles, salaries, locations, and employment types in data science.</a:t>
            </a:r>
          </a:p>
          <a:p>
            <a:pPr lvl="0" indent="0" marL="0">
              <a:buNone/>
            </a:pPr>
            <a:r>
              <a:rPr/>
              <a:t>The second dataset explores remote versus in-office employment, hours worked, productivity scores, and well-being scores.</a:t>
            </a:r>
          </a:p>
          <a:p>
            <a:pPr lvl="0" indent="0" marL="0">
              <a:buNone/>
            </a:pPr>
            <a:r>
              <a:rPr/>
              <a:t>The analysis aims to understand the impact of remote work on productivity and the broader implications for global job trends in tech.</a:t>
            </a:r>
          </a:p>
          <a:p>
            <a:pPr lvl="0" indent="0" marL="0">
              <a:buNone/>
            </a:pPr>
            <a:r>
              <a:rPr/>
              <a:t>My motivation for exploring data sets on job trends in data arises from the recent wave of layoffs in the tech industry during 2023-2024. This situation has sparked a debate among major tech CEOs, who argue that remote work diminishes productivity and that the same level of output can be achieved when employees are in the office. I aim to investigate whether this claim holds true by analyzing job trends in data science.</a:t>
            </a:r>
          </a:p>
          <a:p>
            <a:pPr lvl="0" indent="0" marL="0">
              <a:spcBef>
                <a:spcPts val="3000"/>
              </a:spcBef>
              <a:buNone/>
            </a:pPr>
            <a:r>
              <a:rPr b="1"/>
              <a:t>Presentation Flow</a:t>
            </a:r>
          </a:p>
          <a:p>
            <a:pPr lvl="0" indent="0" marL="0">
              <a:spcBef>
                <a:spcPts val="3000"/>
              </a:spcBef>
              <a:buNone/>
            </a:pPr>
            <a:r>
              <a:rPr b="1"/>
              <a:t>Importing the Data</a:t>
            </a:r>
          </a:p>
          <a:p>
            <a:pPr lvl="0" indent="0" marL="0">
              <a:buNone/>
            </a:pPr>
            <a:r>
              <a:rPr/>
              <a:t>The two datasets were downloaded from the “data” folder that is present in my github repository.</a:t>
            </a:r>
          </a:p>
          <a:p>
            <a:pPr lvl="0" indent="0" marL="0">
              <a:spcBef>
                <a:spcPts val="3000"/>
              </a:spcBef>
              <a:buNone/>
            </a:pPr>
            <a:r>
              <a:rPr b="1"/>
              <a:t>Descriptive Statistics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Descriptive Statistics for Data Jobs Dataset</a:t>
                      </a:r>
                    </a:p>
                  </a:txBody>
                  <a:tcPr/>
                </a:tc>
                <a:tc>
                  <a:txBody>
                    <a:bodyPr/>
                    <a:lstStyle/>
                    <a:p>
                      <a:endParaRPr/>
                    </a:p>
                  </a:txBody>
                  <a:tcPr/>
                </a:tc>
              </a:tr>
              <a:tr h="0">
                <a:tc>
                  <a:txBody>
                    <a:bodyPr/>
                    <a:lstStyle/>
                    <a:p>
                      <a:pPr lvl="0" indent="0" marL="0">
                        <a:buNone/>
                      </a:pPr>
                      <a:r>
                        <a:rPr/>
                        <a:t>Statistic</a:t>
                      </a:r>
                    </a:p>
                  </a:txBody>
                </a:tc>
                <a:tc>
                  <a:txBody>
                    <a:bodyPr/>
                    <a:lstStyle/>
                    <a:p>
                      <a:pPr lvl="0" indent="0" marL="0">
                        <a:buNone/>
                      </a:pPr>
                      <a:r>
                        <a:rPr/>
                        <a:t>Value</a:t>
                      </a:r>
                    </a:p>
                  </a:txBody>
                </a:tc>
              </a:tr>
              <a:tr h="0">
                <a:tc>
                  <a:txBody>
                    <a:bodyPr/>
                    <a:lstStyle/>
                    <a:p>
                      <a:pPr lvl="0" indent="0" marL="0">
                        <a:buNone/>
                      </a:pPr>
                      <a:r>
                        <a:rPr/>
                        <a:t>Min Salary (USD)</a:t>
                      </a:r>
                    </a:p>
                  </a:txBody>
                </a:tc>
                <a:tc>
                  <a:txBody>
                    <a:bodyPr/>
                    <a:lstStyle/>
                    <a:p>
                      <a:pPr lvl="0" indent="0" marL="0">
                        <a:buNone/>
                      </a:pPr>
                      <a:r>
                        <a:rPr/>
                        <a:t>15,000</a:t>
                      </a:r>
                    </a:p>
                  </a:txBody>
                </a:tc>
              </a:tr>
              <a:tr h="0">
                <a:tc>
                  <a:txBody>
                    <a:bodyPr/>
                    <a:lstStyle/>
                    <a:p>
                      <a:pPr lvl="0" indent="0" marL="0">
                        <a:buNone/>
                      </a:pPr>
                      <a:r>
                        <a:rPr/>
                        <a:t>Max Salary (USD)</a:t>
                      </a:r>
                    </a:p>
                  </a:txBody>
                </a:tc>
                <a:tc>
                  <a:txBody>
                    <a:bodyPr/>
                    <a:lstStyle/>
                    <a:p>
                      <a:pPr lvl="0" indent="0" marL="0">
                        <a:buNone/>
                      </a:pPr>
                      <a:r>
                        <a:rPr/>
                        <a:t>450,000</a:t>
                      </a:r>
                    </a:p>
                  </a:txBody>
                </a:tc>
              </a:tr>
              <a:tr h="0">
                <a:tc>
                  <a:txBody>
                    <a:bodyPr/>
                    <a:lstStyle/>
                    <a:p>
                      <a:pPr lvl="0" indent="0" marL="0">
                        <a:buNone/>
                      </a:pPr>
                      <a:r>
                        <a:rPr/>
                        <a:t>Mean Salary (USD)</a:t>
                      </a:r>
                    </a:p>
                  </a:txBody>
                </a:tc>
                <a:tc>
                  <a:txBody>
                    <a:bodyPr/>
                    <a:lstStyle/>
                    <a:p>
                      <a:pPr lvl="0" indent="0" marL="0">
                        <a:buNone/>
                      </a:pPr>
                      <a:r>
                        <a:rPr/>
                        <a:t>150,299</a:t>
                      </a:r>
                    </a:p>
                  </a:txBody>
                </a:tc>
              </a:tr>
              <a:tr h="0">
                <a:tc>
                  <a:txBody>
                    <a:bodyPr/>
                    <a:lstStyle/>
                    <a:p>
                      <a:pPr lvl="0" indent="0" marL="0">
                        <a:buNone/>
                      </a:pPr>
                      <a:r>
                        <a:rPr/>
                        <a:t>Median Salary (USD)</a:t>
                      </a:r>
                    </a:p>
                  </a:txBody>
                </a:tc>
                <a:tc>
                  <a:txBody>
                    <a:bodyPr/>
                    <a:lstStyle/>
                    <a:p>
                      <a:pPr lvl="0" indent="0" marL="0">
                        <a:buNone/>
                      </a:pPr>
                      <a:r>
                        <a:rPr/>
                        <a:t>143,000</a:t>
                      </a:r>
                    </a:p>
                  </a:txBody>
                </a:tc>
              </a:tr>
              <a:tr h="0">
                <a:tc>
                  <a:txBody>
                    <a:bodyPr/>
                    <a:lstStyle/>
                    <a:p>
                      <a:pPr lvl="0" indent="0" marL="0">
                        <a:buNone/>
                      </a:pPr>
                      <a:r>
                        <a:rPr/>
                        <a:t>SD Salary (USD)</a:t>
                      </a:r>
                    </a:p>
                  </a:txBody>
                </a:tc>
                <a:tc>
                  <a:txBody>
                    <a:bodyPr/>
                    <a:lstStyle/>
                    <a:p>
                      <a:pPr lvl="0" indent="0" marL="0">
                        <a:buNone/>
                      </a:pPr>
                      <a:r>
                        <a:rPr/>
                        <a:t>63,177</a:t>
                      </a:r>
                    </a:p>
                  </a:txBody>
                </a:tc>
              </a:tr>
              <a:tr h="0">
                <a:tc>
                  <a:txBody>
                    <a:bodyPr/>
                    <a:lstStyle/>
                    <a:p>
                      <a:pPr lvl="0" indent="0" marL="0">
                        <a:buNone/>
                      </a:pPr>
                      <a:r>
                        <a:rPr/>
                        <a:t>Unique Work Years</a:t>
                      </a:r>
                    </a:p>
                  </a:txBody>
                </a:tc>
                <a:tc>
                  <a:txBody>
                    <a:bodyPr/>
                    <a:lstStyle/>
                    <a:p>
                      <a:pPr lvl="0" indent="0" marL="0">
                        <a:buNone/>
                      </a:pPr>
                      <a:r>
                        <a:rPr/>
                        <a:t>4</a:t>
                      </a:r>
                    </a:p>
                  </a:txBody>
                </a:tc>
              </a:tr>
              <a:tr h="0">
                <a:tc>
                  <a:txBody>
                    <a:bodyPr/>
                    <a:lstStyle/>
                    <a:p>
                      <a:pPr lvl="0" indent="0" marL="0">
                        <a:buNone/>
                      </a:pPr>
                      <a:r>
                        <a:rPr/>
                        <a:t>Unique Company Locations</a:t>
                      </a:r>
                    </a:p>
                  </a:txBody>
                </a:tc>
                <a:tc>
                  <a:txBody>
                    <a:bodyPr/>
                    <a:lstStyle/>
                    <a:p>
                      <a:pPr lvl="0" indent="0" marL="0">
                        <a:buNone/>
                      </a:pPr>
                      <a:r>
                        <a:rPr/>
                        <a:t>70</a:t>
                      </a:r>
                    </a:p>
                  </a:txBody>
                </a:tc>
              </a:tr>
              <a:tr h="0">
                <a:tc>
                  <a:txBody>
                    <a:bodyPr/>
                    <a:lstStyle/>
                    <a:p>
                      <a:pPr lvl="0" indent="0" marL="0">
                        <a:buNone/>
                      </a:pPr>
                      <a:r>
                        <a:rPr/>
                        <a:t>Unique Company Sizes</a:t>
                      </a:r>
                    </a:p>
                  </a:txBody>
                </a:tc>
                <a:tc>
                  <a:txBody>
                    <a:bodyPr/>
                    <a:lstStyle/>
                    <a:p>
                      <a:pPr lvl="0" indent="0" marL="0">
                        <a:buNone/>
                      </a:pPr>
                      <a:r>
                        <a:rPr/>
                        <a:t>3</a:t>
                      </a:r>
                    </a:p>
                  </a:txBody>
                </a:tc>
              </a:tr>
              <a:tr h="0">
                <a:tc>
                  <a:txBody>
                    <a:bodyPr/>
                    <a:lstStyle/>
                    <a:p>
                      <a:pPr lvl="0" indent="0" marL="0">
                        <a:buNone/>
                      </a:pPr>
                      <a:r>
                        <a:rPr/>
                        <a:t>Experience Levels</a:t>
                      </a:r>
                    </a:p>
                  </a:txBody>
                </a:tc>
                <a:tc>
                  <a:txBody>
                    <a:bodyPr/>
                    <a:lstStyle/>
                    <a:p>
                      <a:pPr lvl="0" indent="0" marL="0">
                        <a:buNone/>
                      </a:pPr>
                      <a:r>
                        <a:rPr/>
                        <a:t>4</a:t>
                      </a:r>
                    </a:p>
                  </a:txBody>
                </a:tc>
              </a:tr>
              <a:tr h="0">
                <a:tc>
                  <a:txBody>
                    <a:bodyPr/>
                    <a:lstStyle/>
                    <a:p>
                      <a:pPr lvl="0" indent="0" marL="0">
                        <a:buNone/>
                      </a:pPr>
                      <a:r>
                        <a:rPr/>
                        <a:t>Work Settings</a:t>
                      </a:r>
                    </a:p>
                  </a:txBody>
                </a:tc>
                <a:tc>
                  <a:txBody>
                    <a:bodyPr/>
                    <a:lstStyle/>
                    <a:p>
                      <a:pPr lvl="0" indent="0" marL="0">
                        <a:buNone/>
                      </a:pPr>
                      <a:r>
                        <a:rPr/>
                        <a:t>3</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Distribution of Jobs Among the different Data Categories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Job Category</a:t>
                      </a:r>
                    </a:p>
                  </a:txBody>
                  <a:tcPr/>
                </a:tc>
                <a:tc>
                  <a:txBody>
                    <a:bodyPr/>
                    <a:lstStyle/>
                    <a:p>
                      <a:pPr lvl="0" indent="0" marL="0">
                        <a:buNone/>
                      </a:pPr>
                      <a:r>
                        <a:rPr/>
                        <a:t>Total Count of Jobs</a:t>
                      </a:r>
                    </a:p>
                  </a:txBody>
                  <a:tcPr/>
                </a:tc>
              </a:tr>
              <a:tr h="0">
                <a:tc>
                  <a:txBody>
                    <a:bodyPr/>
                    <a:lstStyle/>
                    <a:p>
                      <a:pPr lvl="0" indent="0" marL="0">
                        <a:buNone/>
                      </a:pPr>
                      <a:r>
                        <a:rPr/>
                        <a:t>Data Science and Research</a:t>
                      </a:r>
                    </a:p>
                  </a:txBody>
                </a:tc>
                <a:tc>
                  <a:txBody>
                    <a:bodyPr/>
                    <a:lstStyle/>
                    <a:p>
                      <a:pPr lvl="0" indent="0" marL="0">
                        <a:buNone/>
                      </a:pPr>
                    </a:p>
                    <a:p>
                      <a:pPr lvl="0" indent="0" marL="0">
                        <a:buNone/>
                      </a:pPr>
                      <a:r>
                        <a:rPr/>
                        <a:t>   </a:t>
                      </a:r>
                    </a:p>
                  </a:txBody>
                </a:tc>
              </a:tr>
              <a:tr h="0">
                <a:tc>
                  <a:txBody>
                    <a:bodyPr/>
                    <a:lstStyle/>
                    <a:p>
                      <a:pPr lvl="0" indent="0" marL="0">
                        <a:buNone/>
                      </a:pPr>
                      <a:r>
                        <a:rPr/>
                        <a:t>Data Engineering</a:t>
                      </a:r>
                    </a:p>
                  </a:txBody>
                </a:tc>
                <a:tc>
                  <a:txBody>
                    <a:bodyPr/>
                    <a:lstStyle/>
                    <a:p>
                      <a:pPr lvl="0" indent="0" marL="0">
                        <a:buNone/>
                      </a:pPr>
                    </a:p>
                    <a:p>
                      <a:pPr lvl="0" indent="0" marL="0">
                        <a:buNone/>
                      </a:pPr>
                      <a:r>
                        <a:rPr/>
                        <a:t>   </a:t>
                      </a:r>
                    </a:p>
                  </a:txBody>
                </a:tc>
              </a:tr>
              <a:tr h="0">
                <a:tc>
                  <a:txBody>
                    <a:bodyPr/>
                    <a:lstStyle/>
                    <a:p>
                      <a:pPr lvl="0" indent="0" marL="0">
                        <a:buNone/>
                      </a:pPr>
                      <a:r>
                        <a:rPr/>
                        <a:t>Data Analysis</a:t>
                      </a:r>
                    </a:p>
                  </a:txBody>
                </a:tc>
                <a:tc>
                  <a:txBody>
                    <a:bodyPr/>
                    <a:lstStyle/>
                    <a:p>
                      <a:pPr lvl="0" indent="0" marL="0">
                        <a:buNone/>
                      </a:pPr>
                    </a:p>
                    <a:p>
                      <a:pPr lvl="0" indent="0" marL="0">
                        <a:buNone/>
                      </a:pPr>
                      <a:r>
                        <a:rPr/>
                        <a:t>   </a:t>
                      </a:r>
                    </a:p>
                  </a:txBody>
                </a:tc>
              </a:tr>
              <a:tr h="0">
                <a:tc>
                  <a:txBody>
                    <a:bodyPr/>
                    <a:lstStyle/>
                    <a:p>
                      <a:pPr lvl="0" indent="0" marL="0">
                        <a:buNone/>
                      </a:pPr>
                      <a:r>
                        <a:rPr/>
                        <a:t>Machine Learning and AI</a:t>
                      </a:r>
                    </a:p>
                  </a:txBody>
                </a:tc>
                <a:tc>
                  <a:txBody>
                    <a:bodyPr/>
                    <a:lstStyle/>
                    <a:p>
                      <a:pPr lvl="0" indent="0" marL="0">
                        <a:buNone/>
                      </a:pPr>
                    </a:p>
                    <a:p>
                      <a:pPr lvl="0" indent="0" marL="0">
                        <a:buNone/>
                      </a:pPr>
                      <a:r>
                        <a:rPr/>
                        <a:t>   </a:t>
                      </a:r>
                    </a:p>
                  </a:txBody>
                </a:tc>
              </a:tr>
              <a:tr h="0">
                <a:tc>
                  <a:txBody>
                    <a:bodyPr/>
                    <a:lstStyle/>
                    <a:p>
                      <a:pPr lvl="0" indent="0" marL="0">
                        <a:buNone/>
                      </a:pPr>
                      <a:r>
                        <a:rPr/>
                        <a:t>Leadership and Management</a:t>
                      </a:r>
                    </a:p>
                  </a:txBody>
                </a:tc>
                <a:tc>
                  <a:txBody>
                    <a:bodyPr/>
                    <a:lstStyle/>
                    <a:p>
                      <a:pPr lvl="0" indent="0" marL="0">
                        <a:buNone/>
                      </a:pPr>
                    </a:p>
                    <a:p>
                      <a:pPr lvl="0" indent="0" marL="0">
                        <a:buNone/>
                      </a:pPr>
                      <a:r>
                        <a:rPr/>
                        <a:t>   </a:t>
                      </a:r>
                    </a:p>
                  </a:txBody>
                </a:tc>
              </a:tr>
              <a:tr h="0">
                <a:tc>
                  <a:txBody>
                    <a:bodyPr/>
                    <a:lstStyle/>
                    <a:p>
                      <a:pPr lvl="0" indent="0" marL="0">
                        <a:buNone/>
                      </a:pPr>
                      <a:r>
                        <a:rPr/>
                        <a:t>BI and Visualization</a:t>
                      </a:r>
                    </a:p>
                  </a:txBody>
                </a:tc>
                <a:tc>
                  <a:txBody>
                    <a:bodyPr/>
                    <a:lstStyle/>
                    <a:p>
                      <a:pPr lvl="0" indent="0" marL="0">
                        <a:buNone/>
                      </a:pPr>
                    </a:p>
                    <a:p>
                      <a:pPr lvl="0" indent="0" marL="0">
                        <a:buNone/>
                      </a:pPr>
                      <a:r>
                        <a:rPr/>
                        <a:t>   </a:t>
                      </a:r>
                    </a:p>
                  </a:txBody>
                </a:tc>
              </a:tr>
              <a:tr h="0">
                <a:tc>
                  <a:txBody>
                    <a:bodyPr/>
                    <a:lstStyle/>
                    <a:p>
                      <a:pPr lvl="0" indent="0" marL="0">
                        <a:buNone/>
                      </a:pPr>
                      <a:r>
                        <a:rPr/>
                        <a:t>Data Architecture and Modeling</a:t>
                      </a:r>
                    </a:p>
                  </a:txBody>
                </a:tc>
                <a:tc>
                  <a:txBody>
                    <a:bodyPr/>
                    <a:lstStyle/>
                    <a:p>
                      <a:pPr lvl="0" indent="0" marL="0">
                        <a:buNone/>
                      </a:pPr>
                    </a:p>
                    <a:p>
                      <a:pPr lvl="0" indent="0" marL="0">
                        <a:buNone/>
                      </a:pPr>
                      <a:r>
                        <a:rPr/>
                        <a:t>   </a:t>
                      </a:r>
                    </a:p>
                  </a:txBody>
                </a:tc>
              </a:tr>
              <a:tr h="0">
                <a:tc>
                  <a:txBody>
                    <a:bodyPr/>
                    <a:lstStyle/>
                    <a:p>
                      <a:pPr lvl="0" indent="0" marL="0">
                        <a:buNone/>
                      </a:pPr>
                      <a:r>
                        <a:rPr/>
                        <a:t>Data Management and Strategy</a:t>
                      </a:r>
                    </a:p>
                  </a:txBody>
                </a:tc>
                <a:tc>
                  <a:txBody>
                    <a:bodyPr/>
                    <a:lstStyle/>
                    <a:p>
                      <a:pPr lvl="0" indent="0" marL="0">
                        <a:buNone/>
                      </a:pPr>
                    </a:p>
                    <a:p>
                      <a:pPr lvl="0" indent="0" marL="0">
                        <a:buNone/>
                      </a:pPr>
                      <a:r>
                        <a:rPr/>
                        <a:t>   </a:t>
                      </a:r>
                    </a:p>
                  </a:txBody>
                </a:tc>
              </a:tr>
              <a:tr h="0">
                <a:tc>
                  <a:txBody>
                    <a:bodyPr/>
                    <a:lstStyle/>
                    <a:p>
                      <a:pPr lvl="0" indent="0" marL="0">
                        <a:buNone/>
                      </a:pPr>
                      <a:r>
                        <a:rPr/>
                        <a:t>Data Quality and Operations</a:t>
                      </a:r>
                    </a:p>
                  </a:txBody>
                </a:tc>
                <a:tc>
                  <a:txBody>
                    <a:bodyPr/>
                    <a:lstStyle/>
                    <a:p>
                      <a:pPr lvl="0" indent="0" marL="0">
                        <a:buNone/>
                      </a:pPr>
                    </a:p>
                    <a:p>
                      <a:pPr lvl="0" indent="0" marL="0">
                        <a:buNone/>
                      </a:pPr>
                      <a:r>
                        <a:rPr/>
                        <a:t>   </a:t>
                      </a:r>
                    </a:p>
                  </a:txBody>
                </a:tc>
              </a:tr>
              <a:tr h="0">
                <a:tc>
                  <a:txBody>
                    <a:bodyPr/>
                    <a:lstStyle/>
                    <a:p>
                      <a:pPr lvl="0" indent="0" marL="0">
                        <a:buNone/>
                      </a:pPr>
                      <a:r>
                        <a:rPr/>
                        <a:t>Cloud and Database</a:t>
                      </a:r>
                    </a:p>
                  </a:txBody>
                </a:tc>
                <a:tc>
                  <a:txBody>
                    <a:bodyPr/>
                    <a:lstStyle/>
                    <a:p>
                      <a:pPr lvl="0" indent="0" marL="0">
                        <a:buNone/>
                      </a:pPr>
                    </a:p>
                    <a:p>
                      <a:pPr lvl="0" indent="0" marL="0">
                        <a:buNone/>
                      </a:pPr>
                      <a:r>
                        <a:rPr/>
                        <a:t>   </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Data Jobs Trends From 2020 to 2023</a:t>
            </a:r>
          </a:p>
        </p:txBody>
      </p:sp>
      <p:pic>
        <p:nvPicPr>
          <p:cNvPr descr="Geographic,-Experiential,-and-Productivity-Trends-in-Data-Jobs_files/figure-pptx/unnamed-chunk-7-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Distribution of Work Settings Amongst Job Categories</a:t>
            </a:r>
          </a:p>
        </p:txBody>
      </p:sp>
      <p:pic>
        <p:nvPicPr>
          <p:cNvPr descr="Geographic,-Experiential,-and-Productivity-Trends-in-Data-Jobs_files/figure-pptx/unnamed-chunk-8-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Distribution of Jobs Among Company Sizes by Work Setting</a:t>
            </a:r>
          </a:p>
        </p:txBody>
      </p:sp>
      <p:pic>
        <p:nvPicPr>
          <p:cNvPr descr="Geographic,-Experiential,-and-Productivity-Trends-in-Data-Jobs_files/figure-pptx/unnamed-chunk-9-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Salary Distribution by Experience level and Work Setting</a:t>
            </a:r>
          </a:p>
        </p:txBody>
      </p:sp>
      <p:pic>
        <p:nvPicPr>
          <p:cNvPr descr="Geographic,-Experiential,-and-Productivity-Trends-in-Data-Jobs_files/figure-pptx/unnamed-chunk-10-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Distribution of Jobs Amongst top 15 Company Location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Proportions of Jobs in Different Countries</a:t>
                      </a:r>
                    </a:p>
                  </a:txBody>
                  <a:tcPr/>
                </a:tc>
                <a:tc>
                  <a:txBody>
                    <a:bodyPr/>
                    <a:lstStyle/>
                    <a:p>
                      <a:endParaRPr/>
                    </a:p>
                  </a:txBody>
                  <a:tcPr/>
                </a:tc>
                <a:tc>
                  <a:txBody>
                    <a:bodyPr/>
                    <a:lstStyle/>
                    <a:p>
                      <a:endParaRPr/>
                    </a:p>
                  </a:txBody>
                  <a:tcPr/>
                </a:tc>
              </a:tr>
              <a:tr h="0">
                <a:tc>
                  <a:txBody>
                    <a:bodyPr/>
                    <a:lstStyle/>
                    <a:p>
                      <a:pPr lvl="0" indent="0" marL="0">
                        <a:buNone/>
                      </a:pPr>
                      <a:r>
                        <a:rPr/>
                        <a:t>Country</a:t>
                      </a:r>
                    </a:p>
                  </a:txBody>
                </a:tc>
                <a:tc>
                  <a:txBody>
                    <a:bodyPr/>
                    <a:lstStyle/>
                    <a:p>
                      <a:pPr lvl="0" indent="0" marL="0">
                        <a:buNone/>
                      </a:pPr>
                      <a:r>
                        <a:rPr/>
                        <a:t>Job Count Proportions</a:t>
                      </a:r>
                    </a:p>
                  </a:txBody>
                </a:tc>
                <a:tc>
                  <a:txBody>
                    <a:bodyPr/>
                    <a:lstStyle/>
                    <a:p>
                      <a:endParaRPr/>
                    </a:p>
                  </a:txBody>
                </a:tc>
              </a:tr>
              <a:tr h="0">
                <a:tc>
                  <a:txBody>
                    <a:bodyPr/>
                    <a:lstStyle/>
                    <a:p>
                      <a:endParaRPr/>
                    </a:p>
                  </a:txBody>
                </a:tc>
                <a:tc>
                  <a:txBody>
                    <a:bodyPr/>
                    <a:lstStyle/>
                    <a:p>
                      <a:pPr lvl="0" indent="0" marL="0">
                        <a:buNone/>
                      </a:pPr>
                      <a:r>
                        <a:rPr/>
                        <a:t>Job Count</a:t>
                      </a:r>
                    </a:p>
                  </a:txBody>
                </a:tc>
                <a:tc>
                  <a:txBody>
                    <a:bodyPr/>
                    <a:lstStyle/>
                    <a:p>
                      <a:pPr lvl="0" indent="0" marL="0">
                        <a:buNone/>
                      </a:pPr>
                      <a:r>
                        <a:rPr/>
                        <a:t>Proportion of Total Jobs</a:t>
                      </a:r>
                    </a:p>
                  </a:txBody>
                </a:tc>
              </a:tr>
              <a:tr h="0">
                <a:tc>
                  <a:txBody>
                    <a:bodyPr/>
                    <a:lstStyle/>
                    <a:p>
                      <a:pPr lvl="0" indent="0" marL="0">
                        <a:buNone/>
                      </a:pPr>
                      <a:r>
                        <a:rPr/>
                        <a:t>United States</a:t>
                      </a:r>
                    </a:p>
                  </a:txBody>
                </a:tc>
                <a:tc>
                  <a:txBody>
                    <a:bodyPr/>
                    <a:lstStyle/>
                    <a:p>
                      <a:pPr lvl="0" indent="0" marL="0">
                        <a:buNone/>
                      </a:pPr>
                      <a:r>
                        <a:rPr/>
                        <a:t>8132</a:t>
                      </a:r>
                    </a:p>
                  </a:txBody>
                </a:tc>
                <a:tc>
                  <a:txBody>
                    <a:bodyPr/>
                    <a:lstStyle/>
                    <a:p>
                      <a:pPr lvl="0" indent="0" marL="0">
                        <a:buNone/>
                      </a:pPr>
                      <a:r>
                        <a:rPr/>
                        <a:t>88.48%</a:t>
                      </a:r>
                    </a:p>
                  </a:txBody>
                </a:tc>
              </a:tr>
              <a:tr h="0">
                <a:tc>
                  <a:txBody>
                    <a:bodyPr/>
                    <a:lstStyle/>
                    <a:p>
                      <a:pPr lvl="0" indent="0" marL="0">
                        <a:buNone/>
                      </a:pPr>
                      <a:r>
                        <a:rPr/>
                        <a:t>United Kingdom</a:t>
                      </a:r>
                    </a:p>
                  </a:txBody>
                </a:tc>
                <a:tc>
                  <a:txBody>
                    <a:bodyPr/>
                    <a:lstStyle/>
                    <a:p>
                      <a:pPr lvl="0" indent="0" marL="0">
                        <a:buNone/>
                      </a:pPr>
                      <a:r>
                        <a:rPr/>
                        <a:t>449</a:t>
                      </a:r>
                    </a:p>
                  </a:txBody>
                </a:tc>
                <a:tc>
                  <a:txBody>
                    <a:bodyPr/>
                    <a:lstStyle/>
                    <a:p>
                      <a:pPr lvl="0" indent="0" marL="0">
                        <a:buNone/>
                      </a:pPr>
                      <a:r>
                        <a:rPr/>
                        <a:t>4.89%</a:t>
                      </a:r>
                    </a:p>
                  </a:txBody>
                </a:tc>
              </a:tr>
              <a:tr h="0">
                <a:tc>
                  <a:txBody>
                    <a:bodyPr/>
                    <a:lstStyle/>
                    <a:p>
                      <a:pPr lvl="0" indent="0" marL="0">
                        <a:buNone/>
                      </a:pPr>
                      <a:r>
                        <a:rPr/>
                        <a:t>Canada</a:t>
                      </a:r>
                    </a:p>
                  </a:txBody>
                </a:tc>
                <a:tc>
                  <a:txBody>
                    <a:bodyPr/>
                    <a:lstStyle/>
                    <a:p>
                      <a:pPr lvl="0" indent="0" marL="0">
                        <a:buNone/>
                      </a:pPr>
                      <a:r>
                        <a:rPr/>
                        <a:t>226</a:t>
                      </a:r>
                    </a:p>
                  </a:txBody>
                </a:tc>
                <a:tc>
                  <a:txBody>
                    <a:bodyPr/>
                    <a:lstStyle/>
                    <a:p>
                      <a:pPr lvl="0" indent="0" marL="0">
                        <a:buNone/>
                      </a:pPr>
                      <a:r>
                        <a:rPr/>
                        <a:t>2.46%</a:t>
                      </a:r>
                    </a:p>
                  </a:txBody>
                </a:tc>
              </a:tr>
              <a:tr h="0">
                <a:tc>
                  <a:txBody>
                    <a:bodyPr/>
                    <a:lstStyle/>
                    <a:p>
                      <a:pPr lvl="0" indent="0" marL="0">
                        <a:buNone/>
                      </a:pPr>
                      <a:r>
                        <a:rPr/>
                        <a:t>Spain</a:t>
                      </a:r>
                    </a:p>
                  </a:txBody>
                </a:tc>
                <a:tc>
                  <a:txBody>
                    <a:bodyPr/>
                    <a:lstStyle/>
                    <a:p>
                      <a:pPr lvl="0" indent="0" marL="0">
                        <a:buNone/>
                      </a:pPr>
                      <a:r>
                        <a:rPr/>
                        <a:t>113</a:t>
                      </a:r>
                    </a:p>
                  </a:txBody>
                </a:tc>
                <a:tc>
                  <a:txBody>
                    <a:bodyPr/>
                    <a:lstStyle/>
                    <a:p>
                      <a:pPr lvl="0" indent="0" marL="0">
                        <a:buNone/>
                      </a:pPr>
                      <a:r>
                        <a:rPr/>
                        <a:t>1.23%</a:t>
                      </a:r>
                    </a:p>
                  </a:txBody>
                </a:tc>
              </a:tr>
              <a:tr h="0">
                <a:tc>
                  <a:txBody>
                    <a:bodyPr/>
                    <a:lstStyle/>
                    <a:p>
                      <a:pPr lvl="0" indent="0" marL="0">
                        <a:buNone/>
                      </a:pPr>
                      <a:r>
                        <a:rPr/>
                        <a:t>Germany</a:t>
                      </a:r>
                    </a:p>
                  </a:txBody>
                </a:tc>
                <a:tc>
                  <a:txBody>
                    <a:bodyPr/>
                    <a:lstStyle/>
                    <a:p>
                      <a:pPr lvl="0" indent="0" marL="0">
                        <a:buNone/>
                      </a:pPr>
                      <a:r>
                        <a:rPr/>
                        <a:t>72</a:t>
                      </a:r>
                    </a:p>
                  </a:txBody>
                </a:tc>
                <a:tc>
                  <a:txBody>
                    <a:bodyPr/>
                    <a:lstStyle/>
                    <a:p>
                      <a:pPr lvl="0" indent="0" marL="0">
                        <a:buNone/>
                      </a:pPr>
                      <a:r>
                        <a:rPr/>
                        <a:t>0.78%</a:t>
                      </a:r>
                    </a:p>
                  </a:txBody>
                </a:tc>
              </a:tr>
              <a:tr h="0">
                <a:tc>
                  <a:txBody>
                    <a:bodyPr/>
                    <a:lstStyle/>
                    <a:p>
                      <a:pPr lvl="0" indent="0" marL="0">
                        <a:buNone/>
                      </a:pPr>
                      <a:r>
                        <a:rPr/>
                        <a:t>France</a:t>
                      </a:r>
                    </a:p>
                  </a:txBody>
                </a:tc>
                <a:tc>
                  <a:txBody>
                    <a:bodyPr/>
                    <a:lstStyle/>
                    <a:p>
                      <a:pPr lvl="0" indent="0" marL="0">
                        <a:buNone/>
                      </a:pPr>
                      <a:r>
                        <a:rPr/>
                        <a:t>50</a:t>
                      </a:r>
                    </a:p>
                  </a:txBody>
                </a:tc>
                <a:tc>
                  <a:txBody>
                    <a:bodyPr/>
                    <a:lstStyle/>
                    <a:p>
                      <a:pPr lvl="0" indent="0" marL="0">
                        <a:buNone/>
                      </a:pPr>
                      <a:r>
                        <a:rPr/>
                        <a:t>0.54%</a:t>
                      </a:r>
                    </a:p>
                  </a:txBody>
                </a:tc>
              </a:tr>
              <a:tr h="0">
                <a:tc>
                  <a:txBody>
                    <a:bodyPr/>
                    <a:lstStyle/>
                    <a:p>
                      <a:pPr lvl="0" indent="0" marL="0">
                        <a:buNone/>
                      </a:pPr>
                      <a:r>
                        <a:rPr/>
                        <a:t>Australia</a:t>
                      </a:r>
                    </a:p>
                  </a:txBody>
                </a:tc>
                <a:tc>
                  <a:txBody>
                    <a:bodyPr/>
                    <a:lstStyle/>
                    <a:p>
                      <a:pPr lvl="0" indent="0" marL="0">
                        <a:buNone/>
                      </a:pPr>
                      <a:r>
                        <a:rPr/>
                        <a:t>24</a:t>
                      </a:r>
                    </a:p>
                  </a:txBody>
                </a:tc>
                <a:tc>
                  <a:txBody>
                    <a:bodyPr/>
                    <a:lstStyle/>
                    <a:p>
                      <a:pPr lvl="0" indent="0" marL="0">
                        <a:buNone/>
                      </a:pPr>
                      <a:r>
                        <a:rPr/>
                        <a:t>0.26%</a:t>
                      </a:r>
                    </a:p>
                  </a:txBody>
                </a:tc>
              </a:tr>
              <a:tr h="0">
                <a:tc>
                  <a:txBody>
                    <a:bodyPr/>
                    <a:lstStyle/>
                    <a:p>
                      <a:pPr lvl="0" indent="0" marL="0">
                        <a:buNone/>
                      </a:pPr>
                      <a:r>
                        <a:rPr/>
                        <a:t>Portugal</a:t>
                      </a:r>
                    </a:p>
                  </a:txBody>
                </a:tc>
                <a:tc>
                  <a:txBody>
                    <a:bodyPr/>
                    <a:lstStyle/>
                    <a:p>
                      <a:pPr lvl="0" indent="0" marL="0">
                        <a:buNone/>
                      </a:pPr>
                      <a:r>
                        <a:rPr/>
                        <a:t>24</a:t>
                      </a:r>
                    </a:p>
                  </a:txBody>
                </a:tc>
                <a:tc>
                  <a:txBody>
                    <a:bodyPr/>
                    <a:lstStyle/>
                    <a:p>
                      <a:pPr lvl="0" indent="0" marL="0">
                        <a:buNone/>
                      </a:pPr>
                      <a:r>
                        <a:rPr/>
                        <a:t>0.26%</a:t>
                      </a:r>
                    </a:p>
                  </a:txBody>
                </a:tc>
              </a:tr>
              <a:tr h="0">
                <a:tc>
                  <a:txBody>
                    <a:bodyPr/>
                    <a:lstStyle/>
                    <a:p>
                      <a:pPr lvl="0" indent="0" marL="0">
                        <a:buNone/>
                      </a:pPr>
                      <a:r>
                        <a:rPr/>
                        <a:t>Netherlands</a:t>
                      </a:r>
                    </a:p>
                  </a:txBody>
                </a:tc>
                <a:tc>
                  <a:txBody>
                    <a:bodyPr/>
                    <a:lstStyle/>
                    <a:p>
                      <a:pPr lvl="0" indent="0" marL="0">
                        <a:buNone/>
                      </a:pPr>
                      <a:r>
                        <a:rPr/>
                        <a:t>21</a:t>
                      </a:r>
                    </a:p>
                  </a:txBody>
                </a:tc>
                <a:tc>
                  <a:txBody>
                    <a:bodyPr/>
                    <a:lstStyle/>
                    <a:p>
                      <a:pPr lvl="0" indent="0" marL="0">
                        <a:buNone/>
                      </a:pPr>
                      <a:r>
                        <a:rPr/>
                        <a:t>0.23%</a:t>
                      </a:r>
                    </a:p>
                  </a:txBody>
                </a:tc>
              </a:tr>
              <a:tr h="0">
                <a:tc>
                  <a:txBody>
                    <a:bodyPr/>
                    <a:lstStyle/>
                    <a:p>
                      <a:pPr lvl="0" indent="0" marL="0">
                        <a:buNone/>
                      </a:pPr>
                      <a:r>
                        <a:rPr/>
                        <a:t>Brazil</a:t>
                      </a:r>
                    </a:p>
                  </a:txBody>
                </a:tc>
                <a:tc>
                  <a:txBody>
                    <a:bodyPr/>
                    <a:lstStyle/>
                    <a:p>
                      <a:pPr lvl="0" indent="0" marL="0">
                        <a:buNone/>
                      </a:pPr>
                      <a:r>
                        <a:rPr/>
                        <a:t>17</a:t>
                      </a:r>
                    </a:p>
                  </a:txBody>
                </a:tc>
                <a:tc>
                  <a:txBody>
                    <a:bodyPr/>
                    <a:lstStyle/>
                    <a:p>
                      <a:pPr lvl="0" indent="0" marL="0">
                        <a:buNone/>
                      </a:pPr>
                      <a:r>
                        <a:rPr/>
                        <a:t>0.18%</a:t>
                      </a:r>
                    </a:p>
                  </a:txBody>
                </a:tc>
              </a:tr>
              <a:tr h="0">
                <a:tc>
                  <a:txBody>
                    <a:bodyPr/>
                    <a:lstStyle/>
                    <a:p>
                      <a:pPr lvl="0" indent="0" marL="0">
                        <a:buNone/>
                      </a:pPr>
                      <a:r>
                        <a:rPr/>
                        <a:t>Colombia</a:t>
                      </a:r>
                    </a:p>
                  </a:txBody>
                </a:tc>
                <a:tc>
                  <a:txBody>
                    <a:bodyPr/>
                    <a:lstStyle/>
                    <a:p>
                      <a:pPr lvl="0" indent="0" marL="0">
                        <a:buNone/>
                      </a:pPr>
                      <a:r>
                        <a:rPr/>
                        <a:t>16</a:t>
                      </a:r>
                    </a:p>
                  </a:txBody>
                </a:tc>
                <a:tc>
                  <a:txBody>
                    <a:bodyPr/>
                    <a:lstStyle/>
                    <a:p>
                      <a:pPr lvl="0" indent="0" marL="0">
                        <a:buNone/>
                      </a:pPr>
                      <a:r>
                        <a:rPr/>
                        <a:t>0.17%</a:t>
                      </a:r>
                    </a:p>
                  </a:txBody>
                </a:tc>
              </a:tr>
              <a:tr h="0">
                <a:tc>
                  <a:txBody>
                    <a:bodyPr/>
                    <a:lstStyle/>
                    <a:p>
                      <a:pPr lvl="0" indent="0" marL="0">
                        <a:buNone/>
                      </a:pPr>
                      <a:r>
                        <a:rPr/>
                        <a:t>Greece</a:t>
                      </a:r>
                    </a:p>
                  </a:txBody>
                </a:tc>
                <a:tc>
                  <a:txBody>
                    <a:bodyPr/>
                    <a:lstStyle/>
                    <a:p>
                      <a:pPr lvl="0" indent="0" marL="0">
                        <a:buNone/>
                      </a:pPr>
                      <a:r>
                        <a:rPr/>
                        <a:t>14</a:t>
                      </a:r>
                    </a:p>
                  </a:txBody>
                </a:tc>
                <a:tc>
                  <a:txBody>
                    <a:bodyPr/>
                    <a:lstStyle/>
                    <a:p>
                      <a:pPr lvl="0" indent="0" marL="0">
                        <a:buNone/>
                      </a:pPr>
                      <a:r>
                        <a:rPr/>
                        <a:t>0.15%</a:t>
                      </a:r>
                    </a:p>
                  </a:txBody>
                </a:tc>
              </a:tr>
              <a:tr h="0">
                <a:tc>
                  <a:txBody>
                    <a:bodyPr/>
                    <a:lstStyle/>
                    <a:p>
                      <a:pPr lvl="0" indent="0" marL="0">
                        <a:buNone/>
                      </a:pPr>
                      <a:r>
                        <a:rPr/>
                        <a:t>Italy</a:t>
                      </a:r>
                    </a:p>
                  </a:txBody>
                </a:tc>
                <a:tc>
                  <a:txBody>
                    <a:bodyPr/>
                    <a:lstStyle/>
                    <a:p>
                      <a:pPr lvl="0" indent="0" marL="0">
                        <a:buNone/>
                      </a:pPr>
                      <a:r>
                        <a:rPr/>
                        <a:t>13</a:t>
                      </a:r>
                    </a:p>
                  </a:txBody>
                </a:tc>
                <a:tc>
                  <a:txBody>
                    <a:bodyPr/>
                    <a:lstStyle/>
                    <a:p>
                      <a:pPr lvl="0" indent="0" marL="0">
                        <a:buNone/>
                      </a:pPr>
                      <a:r>
                        <a:rPr/>
                        <a:t>0.14%</a:t>
                      </a:r>
                    </a:p>
                  </a:txBody>
                </a:tc>
              </a:tr>
              <a:tr h="0">
                <a:tc>
                  <a:txBody>
                    <a:bodyPr/>
                    <a:lstStyle/>
                    <a:p>
                      <a:pPr lvl="0" indent="0" marL="0">
                        <a:buNone/>
                      </a:pPr>
                      <a:r>
                        <a:rPr/>
                        <a:t>Estonia</a:t>
                      </a:r>
                    </a:p>
                  </a:txBody>
                </a:tc>
                <a:tc>
                  <a:txBody>
                    <a:bodyPr/>
                    <a:lstStyle/>
                    <a:p>
                      <a:pPr lvl="0" indent="0" marL="0">
                        <a:buNone/>
                      </a:pPr>
                      <a:r>
                        <a:rPr/>
                        <a:t>10</a:t>
                      </a:r>
                    </a:p>
                  </a:txBody>
                </a:tc>
                <a:tc>
                  <a:txBody>
                    <a:bodyPr/>
                    <a:lstStyle/>
                    <a:p>
                      <a:pPr lvl="0" indent="0" marL="0">
                        <a:buNone/>
                      </a:pPr>
                      <a:r>
                        <a:rPr/>
                        <a:t>0.11%</a:t>
                      </a:r>
                    </a:p>
                  </a:txBody>
                </a:tc>
              </a:tr>
              <a:tr h="0">
                <a:tc>
                  <a:txBody>
                    <a:bodyPr/>
                    <a:lstStyle/>
                    <a:p>
                      <a:pPr lvl="0" indent="0" marL="0">
                        <a:buNone/>
                      </a:pPr>
                      <a:r>
                        <a:rPr/>
                        <a:t>Mexico</a:t>
                      </a:r>
                    </a:p>
                  </a:txBody>
                </a:tc>
                <a:tc>
                  <a:txBody>
                    <a:bodyPr/>
                    <a:lstStyle/>
                    <a:p>
                      <a:pPr lvl="0" indent="0" marL="0">
                        <a:buNone/>
                      </a:pPr>
                      <a:r>
                        <a:rPr/>
                        <a:t>10</a:t>
                      </a:r>
                    </a:p>
                  </a:txBody>
                </a:tc>
                <a:tc>
                  <a:txBody>
                    <a:bodyPr/>
                    <a:lstStyle/>
                    <a:p>
                      <a:pPr lvl="0" indent="0" marL="0">
                        <a:buNone/>
                      </a:pPr>
                      <a:r>
                        <a:rPr/>
                        <a:t>0.11%</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I chose to use company Location as opposed to the employee residence because for employees that work remotely, their residence is not representative of the company location or the country offering the job. Here I chose a cutoff point of 15 since majority of the jobs are concentrated in the top 5 company locations.</a:t>
            </a:r>
          </a:p>
          <a:p>
            <a:pPr lvl="0" indent="0" marL="0">
              <a:spcBef>
                <a:spcPts val="3000"/>
              </a:spcBef>
              <a:buNone/>
            </a:pPr>
            <a:r>
              <a:rPr b="1"/>
              <a:t>Average Salary Heatmap by Company Location and Work Setting</a:t>
            </a:r>
          </a:p>
        </p:txBody>
      </p:sp>
      <p:pic>
        <p:nvPicPr>
          <p:cNvPr descr="Geographic,-Experiential,-and-Productivity-Trends-in-Data-Jobs_files/figure-pptx/unnamed-chunk-12-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Summary of Productivity Dataset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Summary of Productivity Dataset Metrics by Employment Type</a:t>
                      </a:r>
                    </a:p>
                  </a:txBody>
                  <a:tcPr/>
                </a:tc>
                <a:tc>
                  <a:txBody>
                    <a:bodyPr/>
                    <a:lstStyle/>
                    <a:p>
                      <a:endParaRPr/>
                    </a:p>
                  </a:txBody>
                  <a:tcPr/>
                </a:tc>
                <a:tc>
                  <a:txBody>
                    <a:bodyPr/>
                    <a:lstStyle/>
                    <a:p>
                      <a:endParaRPr/>
                    </a:p>
                  </a:txBody>
                  <a:tcPr/>
                </a:tc>
                <a:tc>
                  <a:txBody>
                    <a:bodyPr/>
                    <a:lstStyle/>
                    <a:p>
                      <a:endParaRPr/>
                    </a:p>
                  </a:txBody>
                  <a:tcPr/>
                </a:tc>
              </a:tr>
              <a:tr h="0">
                <a:tc>
                  <a:txBody>
                    <a:bodyPr/>
                    <a:lstStyle/>
                    <a:p>
                      <a:pPr lvl="0" indent="0" marL="0">
                        <a:buNone/>
                      </a:pPr>
                      <a:r>
                        <a:rPr/>
                        <a:t>Employment_Type</a:t>
                      </a:r>
                    </a:p>
                  </a:txBody>
                </a:tc>
                <a:tc>
                  <a:txBody>
                    <a:bodyPr/>
                    <a:lstStyle/>
                    <a:p>
                      <a:pPr lvl="0" indent="0" marL="0">
                        <a:buNone/>
                      </a:pPr>
                      <a:r>
                        <a:rPr/>
                        <a:t>Average Hours Worked</a:t>
                      </a:r>
                    </a:p>
                  </a:txBody>
                </a:tc>
                <a:tc>
                  <a:txBody>
                    <a:bodyPr/>
                    <a:lstStyle/>
                    <a:p>
                      <a:pPr lvl="0" indent="0" marL="0">
                        <a:buNone/>
                      </a:pPr>
                      <a:r>
                        <a:rPr/>
                        <a:t>Average Productivity Score</a:t>
                      </a:r>
                    </a:p>
                  </a:txBody>
                </a:tc>
                <a:tc>
                  <a:txBody>
                    <a:bodyPr/>
                    <a:lstStyle/>
                    <a:p>
                      <a:pPr lvl="0" indent="0" marL="0">
                        <a:buNone/>
                      </a:pPr>
                      <a:r>
                        <a:rPr/>
                        <a:t>Average Well-Being Score</a:t>
                      </a:r>
                    </a:p>
                  </a:txBody>
                </a:tc>
              </a:tr>
              <a:tr h="0">
                <a:tc>
                  <a:txBody>
                    <a:bodyPr/>
                    <a:lstStyle/>
                    <a:p>
                      <a:pPr lvl="0" indent="0" marL="0">
                        <a:buNone/>
                      </a:pPr>
                      <a:r>
                        <a:rPr/>
                        <a:t>In-Office</a:t>
                      </a:r>
                    </a:p>
                  </a:txBody>
                </a:tc>
                <a:tc>
                  <a:txBody>
                    <a:bodyPr/>
                    <a:lstStyle/>
                    <a:p>
                      <a:pPr lvl="0" indent="0" marL="0">
                        <a:buNone/>
                      </a:pPr>
                      <a:r>
                        <a:rPr/>
                        <a:t>44.43</a:t>
                      </a:r>
                    </a:p>
                  </a:txBody>
                </a:tc>
                <a:tc>
                  <a:txBody>
                    <a:bodyPr/>
                    <a:lstStyle/>
                    <a:p>
                      <a:pPr lvl="0" indent="0" marL="0">
                        <a:buNone/>
                      </a:pPr>
                      <a:r>
                        <a:rPr/>
                        <a:t>63.77</a:t>
                      </a:r>
                    </a:p>
                  </a:txBody>
                </a:tc>
                <a:tc>
                  <a:txBody>
                    <a:bodyPr/>
                    <a:lstStyle/>
                    <a:p>
                      <a:pPr lvl="0" indent="0" marL="0">
                        <a:buNone/>
                      </a:pPr>
                      <a:r>
                        <a:rPr/>
                        <a:t>58.67</a:t>
                      </a:r>
                    </a:p>
                  </a:txBody>
                </a:tc>
              </a:tr>
              <a:tr h="0">
                <a:tc>
                  <a:txBody>
                    <a:bodyPr/>
                    <a:lstStyle/>
                    <a:p>
                      <a:pPr lvl="0" indent="0" marL="0">
                        <a:buNone/>
                      </a:pPr>
                      <a:r>
                        <a:rPr/>
                        <a:t>Remote</a:t>
                      </a:r>
                    </a:p>
                  </a:txBody>
                </a:tc>
                <a:tc>
                  <a:txBody>
                    <a:bodyPr/>
                    <a:lstStyle/>
                    <a:p>
                      <a:pPr lvl="0" indent="0" marL="0">
                        <a:buNone/>
                      </a:pPr>
                      <a:r>
                        <a:rPr/>
                        <a:t>34.82</a:t>
                      </a:r>
                    </a:p>
                  </a:txBody>
                </a:tc>
                <a:tc>
                  <a:txBody>
                    <a:bodyPr/>
                    <a:lstStyle/>
                    <a:p>
                      <a:pPr lvl="0" indent="0" marL="0">
                        <a:buNone/>
                      </a:pPr>
                      <a:r>
                        <a:rPr/>
                        <a:t>73.63</a:t>
                      </a:r>
                    </a:p>
                  </a:txBody>
                </a:tc>
                <a:tc>
                  <a:txBody>
                    <a:bodyPr/>
                    <a:lstStyle/>
                    <a:p>
                      <a:pPr lvl="0" indent="0" marL="0">
                        <a:buNone/>
                      </a:pPr>
                      <a:r>
                        <a:rPr/>
                        <a:t>69.49</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Relationship Between Hours Worked and Productivity</a:t>
            </a:r>
          </a:p>
        </p:txBody>
      </p:sp>
      <p:pic>
        <p:nvPicPr>
          <p:cNvPr descr="Geographic,-Experiential,-and-Productivity-Trends-in-Data-Jobs_files/figure-pptx/unnamed-chunk-14-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Correlation</a:t>
            </a:r>
          </a:p>
        </p:txBody>
      </p:sp>
      <p:sp>
        <p:nvSpPr>
          <p:cNvPr id="4" name="Text Placeholder 3"/>
          <p:cNvSpPr>
            <a:spLocks noGrp="1"/>
          </p:cNvSpPr>
          <p:nvPr>
            <p:ph idx="2" sz="half" type="body"/>
          </p:nvPr>
        </p:nvSpPr>
        <p:spPr/>
        <p:txBody>
          <a:bodyPr/>
          <a:lstStyle/>
          <a:p>
            <a:pPr lvl="0" indent="0">
              <a:buNone/>
            </a:pPr>
            <a:r>
              <a:rPr>
                <a:latin typeface="Courier"/>
              </a:rPr>
              <a:t>
    Pearson's product-moment correlation
data:  productivity_data$Productivity_Score and productivity_data$Hours_Worked_Per_Week
t = -8.3154, df = 998, p-value = 2.971e-16
alternative hypothesis: true correlation is not equal to 0
95 percent confidence interval:
 -0.3116245 -0.1956432
sample estimates:
       cor 
-0.2545489 </a:t>
            </a:r>
          </a:p>
          <a:p>
            <a:pPr lvl="0" indent="0" marL="0">
              <a:buNone/>
            </a:pPr>
            <a:r>
              <a:rPr/>
              <a:t>We observe a weak negative correlation (r=−0.2545) between the productivity score and hours worked per week. This indicates that as hours worked increase, productivity scores tend to slightly decrease. The correlation is also statistically significant (p&lt;0.001), meaning there is strong evidence in support of the negative relationship and it is unlikely to have occurred by chance.</a:t>
            </a:r>
          </a:p>
          <a:p>
            <a:pPr lvl="0" indent="0" marL="0">
              <a:spcBef>
                <a:spcPts val="3000"/>
              </a:spcBef>
              <a:buNone/>
            </a:pPr>
            <a:r>
              <a:rPr b="1"/>
              <a:t>Well Being Score Distribution by Employment Type</a:t>
            </a:r>
          </a:p>
        </p:txBody>
      </p:sp>
      <p:pic>
        <p:nvPicPr>
          <p:cNvPr descr="Geographic,-Experiential,-and-Productivity-Trends-in-Data-Jobs_files/figure-pptx/unnamed-chunk-16-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Conclusions</a:t>
            </a:r>
          </a:p>
          <a:p>
            <a:pPr lvl="0" indent="0" marL="0">
              <a:buNone/>
            </a:pPr>
            <a:r>
              <a:rPr/>
              <a:t>Overview of Data Job Trends</a:t>
            </a:r>
          </a:p>
          <a:p>
            <a:pPr lvl="0" indent="0" marL="0">
              <a:buNone/>
            </a:pPr>
            <a:r>
              <a:rPr/>
              <a:t>There has been a significant growth in data roles from 2020 to 2023. Diverse job categories with varying opportunities have come up. It is mostly small companies that provide the largest proportion of remote jobs as compared to large companies.</a:t>
            </a:r>
          </a:p>
          <a:p>
            <a:pPr lvl="0" indent="0" marL="0">
              <a:buNone/>
            </a:pPr>
            <a:r>
              <a:rPr/>
              <a:t>Experiential Factors</a:t>
            </a:r>
          </a:p>
          <a:p>
            <a:pPr lvl="0" indent="0" marL="0">
              <a:buNone/>
            </a:pPr>
            <a:r>
              <a:rPr/>
              <a:t>There are salary variations based on experience levels, with executives that work remotely earning the most while entry level workers that do hybrid earning the least.</a:t>
            </a:r>
          </a:p>
          <a:p>
            <a:pPr lvl="0" indent="0" marL="0">
              <a:buNone/>
            </a:pPr>
            <a:r>
              <a:rPr/>
              <a:t>Geographic Insights</a:t>
            </a:r>
          </a:p>
          <a:p>
            <a:pPr lvl="0" indent="0" marL="0">
              <a:buNone/>
            </a:pPr>
            <a:r>
              <a:rPr/>
              <a:t>There is a predominance of data jobs in the United States, followed by the UK and Canada. The highest paying jobs in the top 10 countries with data jobs are in-person(in-office).</a:t>
            </a:r>
          </a:p>
          <a:p>
            <a:pPr lvl="0" indent="0" marL="0">
              <a:buNone/>
            </a:pPr>
            <a:r>
              <a:rPr/>
              <a:t>Impact of Work Settings on Productivity</a:t>
            </a:r>
          </a:p>
          <a:p>
            <a:pPr lvl="0" indent="0" marL="0">
              <a:buNone/>
            </a:pPr>
            <a:r>
              <a:rPr/>
              <a:t>The data and analysis show that longer hours does not necessarily equate to higher productivity, challenging traditional office work assumptions that the big tech executives are pushing to bring back. Even the well-being score of those working remotely is higher than there counterparts that work fully in office.</a:t>
            </a:r>
          </a:p>
          <a:p>
            <a:pPr lvl="0" indent="0" marL="0">
              <a:spcBef>
                <a:spcPts val="3000"/>
              </a:spcBef>
              <a:buNone/>
            </a:pPr>
            <a:r>
              <a:rPr b="1"/>
              <a:t>Closing Remark</a:t>
            </a:r>
          </a:p>
          <a:p>
            <a:pPr lvl="0" indent="0" marL="0">
              <a:buNone/>
            </a:pPr>
            <a:r>
              <a:rPr/>
              <a:t>In my opinion, big tech CEO’s that claim that the reason for the major layoffs in the past two years is attributed to lower productivity due to remote and hybrid work settings is not entirely true. As we can see from the data, they also spend more on wages and compensation to workers that work from office and therefore their cost cutting agenda is also not justified in this case.</a:t>
            </a:r>
          </a:p>
          <a:p>
            <a:pPr lvl="0" indent="0" marL="0">
              <a:buNone/>
            </a:pPr>
            <a:r>
              <a:rPr/>
              <a:t>So what is the real reason as to why big tech companies are forcing people back into the office fulltime and also carrying out massive layoffs?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Experiential, and Productivity Trends in Data Jobs</dc:title>
  <dc:creator>Nakonde Ronah Precious</dc:creator>
  <cp:keywords/>
  <dcterms:created xsi:type="dcterms:W3CDTF">2025-01-20T15:08:48Z</dcterms:created>
  <dcterms:modified xsi:type="dcterms:W3CDTF">2025-01-20T15:08:48Z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oc-title">
    <vt:lpwstr>Table of contents</vt:lpwstr>
  </property>
</Properties>
</file>